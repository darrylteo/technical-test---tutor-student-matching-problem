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  <p:sldId id="261" r:id="rId9"/>
    <p:sldId id="269" r:id="rId10"/>
    <p:sldId id="262" r:id="rId11"/>
    <p:sldId id="270" r:id="rId12"/>
    <p:sldId id="263" r:id="rId13"/>
    <p:sldId id="264" r:id="rId14"/>
    <p:sldId id="265" r:id="rId15"/>
    <p:sldId id="266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A4DDB-968B-48DC-B660-D9DC0CE71C31}" v="5" dt="2025-11-19T13:30:25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yl Hong Jie Teo" userId="d05e72c8-3c7d-435c-9a8e-91fea3cd7905" providerId="ADAL" clId="{74553948-A13E-4153-A2D4-579571E5685D}"/>
    <pc:docChg chg="custSel mod modSld">
      <pc:chgData name="Darryl Hong Jie Teo" userId="d05e72c8-3c7d-435c-9a8e-91fea3cd7905" providerId="ADAL" clId="{74553948-A13E-4153-A2D4-579571E5685D}" dt="2025-11-30T04:20:55.394" v="28" actId="1076"/>
      <pc:docMkLst>
        <pc:docMk/>
      </pc:docMkLst>
      <pc:sldChg chg="modSp mod">
        <pc:chgData name="Darryl Hong Jie Teo" userId="d05e72c8-3c7d-435c-9a8e-91fea3cd7905" providerId="ADAL" clId="{74553948-A13E-4153-A2D4-579571E5685D}" dt="2025-11-19T12:21:53.156" v="20" actId="1076"/>
        <pc:sldMkLst>
          <pc:docMk/>
          <pc:sldMk cId="839424154" sldId="257"/>
        </pc:sldMkLst>
        <pc:spChg chg="mod">
          <ac:chgData name="Darryl Hong Jie Teo" userId="d05e72c8-3c7d-435c-9a8e-91fea3cd7905" providerId="ADAL" clId="{74553948-A13E-4153-A2D4-579571E5685D}" dt="2025-11-19T12:21:53.156" v="20" actId="1076"/>
          <ac:spMkLst>
            <pc:docMk/>
            <pc:sldMk cId="839424154" sldId="257"/>
            <ac:spMk id="13" creationId="{1190ED85-A0BA-9101-F156-AF38383AB67B}"/>
          </ac:spMkLst>
        </pc:spChg>
      </pc:sldChg>
      <pc:sldChg chg="modSp">
        <pc:chgData name="Darryl Hong Jie Teo" userId="d05e72c8-3c7d-435c-9a8e-91fea3cd7905" providerId="ADAL" clId="{74553948-A13E-4153-A2D4-579571E5685D}" dt="2025-11-19T13:30:25.194" v="25" actId="20577"/>
        <pc:sldMkLst>
          <pc:docMk/>
          <pc:sldMk cId="1106750469" sldId="261"/>
        </pc:sldMkLst>
        <pc:spChg chg="mod">
          <ac:chgData name="Darryl Hong Jie Teo" userId="d05e72c8-3c7d-435c-9a8e-91fea3cd7905" providerId="ADAL" clId="{74553948-A13E-4153-A2D4-579571E5685D}" dt="2025-11-19T13:30:25.194" v="25" actId="20577"/>
          <ac:spMkLst>
            <pc:docMk/>
            <pc:sldMk cId="1106750469" sldId="261"/>
            <ac:spMk id="3" creationId="{6C692743-3EAD-7B33-C42A-90D51793D2B5}"/>
          </ac:spMkLst>
        </pc:spChg>
      </pc:sldChg>
      <pc:sldChg chg="addSp delSp modSp mod">
        <pc:chgData name="Darryl Hong Jie Teo" userId="d05e72c8-3c7d-435c-9a8e-91fea3cd7905" providerId="ADAL" clId="{74553948-A13E-4153-A2D4-579571E5685D}" dt="2025-11-30T04:20:55.394" v="28" actId="1076"/>
        <pc:sldMkLst>
          <pc:docMk/>
          <pc:sldMk cId="1744687058" sldId="265"/>
        </pc:sldMkLst>
        <pc:picChg chg="add mod">
          <ac:chgData name="Darryl Hong Jie Teo" userId="d05e72c8-3c7d-435c-9a8e-91fea3cd7905" providerId="ADAL" clId="{74553948-A13E-4153-A2D4-579571E5685D}" dt="2025-11-30T04:20:55.394" v="28" actId="1076"/>
          <ac:picMkLst>
            <pc:docMk/>
            <pc:sldMk cId="1744687058" sldId="265"/>
            <ac:picMk id="4" creationId="{2666AA2C-7428-3E00-6464-66AAEA090A2B}"/>
          </ac:picMkLst>
        </pc:picChg>
        <pc:picChg chg="del">
          <ac:chgData name="Darryl Hong Jie Teo" userId="d05e72c8-3c7d-435c-9a8e-91fea3cd7905" providerId="ADAL" clId="{74553948-A13E-4153-A2D4-579571E5685D}" dt="2025-11-30T04:20:49.144" v="26" actId="478"/>
          <ac:picMkLst>
            <pc:docMk/>
            <pc:sldMk cId="1744687058" sldId="265"/>
            <ac:picMk id="5" creationId="{B282DA6B-EAE4-868B-CA0A-3061B11A0E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4D384-37A1-4E07-B865-A7CF62098C0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506F0-5DEC-4E54-BC66-434B17003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60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D34D-8D05-5FD1-BD4C-DF9347D6F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C9369A-781E-E43F-62FA-C79AF4F62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C9BDC-3EEE-80A3-042B-C84AC997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CD13-FE15-7BD8-D211-187F38FC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BF86-A37A-1BD5-3B62-67B8C156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8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12F0-D3E0-7818-BBCD-2F51F1BF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AA198-E44A-EF6E-32A2-A001A40F2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8B6AD-5E2B-143F-95AD-94A1E9E9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162AA-9244-F91D-718A-C2CB5B84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822CA-7A83-9DB9-93E8-08A9C48F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9068-7E36-AB16-6A8B-4D2D76C2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22B91-D347-B583-9C41-0148EC9D1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6C9B2-122D-CA62-E5E5-275AA4FF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08156-3033-861B-50C3-16F4DF2B9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7B686-54D6-833B-59FF-E99A4C6A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0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E70C-B82C-F4F3-D057-9D0ACA62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4839D-3C96-B7DB-B78F-3058AC58D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B2906-0BFA-25D5-E362-107176F82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88C48-580C-00E7-C8CE-7EC48EA4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348B7-CAB8-F352-CBB0-C8B8B522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EE99C-4668-3B58-C656-929F1508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9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F91A-ACCC-8258-26EE-66174C10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782A9-91C5-AC17-9699-7B2F254CA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04C29-099F-3605-77E9-F50903CC0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4842A4-D417-037A-24BD-788B142FE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C32A6-5F46-7153-3644-DB093B79B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6AF5F-A57B-2E29-AE63-1AD692EE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4D8C0-FD17-E3D8-7AC4-C3D950AF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4AC40-0664-1B6B-60F4-6B498D07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8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B81F-214A-6F04-8043-4248560D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9EDA0-032D-8555-9C1D-7AD01730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99918-22B8-A0AE-EC1A-540D088F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1AF61-9600-4E9D-862B-4D54FC95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0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E25BC-A0CB-9A9B-9281-41991846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1615E8-FBCF-61AA-69F6-57240EE71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60755-619C-859D-05BF-6BBCB7B1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1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F74C-DBBF-ADE4-80B0-B357FB116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08D1A-2D9F-237D-F63D-646B7269F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4C9F1-8311-9DFE-0926-A34382E1F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21155-CEE8-F101-F24D-731DF888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03ACD-027B-9B83-613D-DF11078B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779FF-3C4A-CC16-0FF3-45DEC4CA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1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9C448-0567-1308-0F5B-B42A5CE7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AB0CD-0D75-57AE-16D2-1DB7CA2A7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0C38B-4938-BCEA-52A1-3FCCAD46E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FEA05-22B7-1116-76BC-631B2B80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821B8-AB3B-C323-E9AF-13A94103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25703-6423-CE4D-CA4D-4827556F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33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B3EC-8C0A-CD29-77F6-6D1DD1F5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28A1F-3525-1A3F-C0FF-E5C39D9C2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BADE8-13B6-E441-1C45-808EC700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14CC-230E-D9FE-E9F0-75D7DBE0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6610-3ADC-E541-B651-2BE14C5A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64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CEAF45-CAAC-1AE4-2BCF-A084C7AD5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A628A-6BA5-1AB7-72D1-E3BF62DA0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B8177-9A87-7CC2-8837-D2C2ACB0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A45CA-F959-4C03-95ED-5372225F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CCA35-2AE1-E512-7C29-3103CCF1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9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18088-28FB-DF2D-7D86-1A1442FC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B6E1D-8126-B229-8C27-C5B97904B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81C19-4779-1E48-02F0-9F5A103CD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A9AEA-1374-47CD-B028-4A10FF9380E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628C-792D-AFD0-149E-FDB775C04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9AE6-9411-D626-7557-AC027EFE4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0014E-8B80-4CFC-9543-C1940B7F2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6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E5098-9B9F-152A-BA5B-B9D1E0A680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Tutor-Student Assignment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2C8D3-6D42-A5DC-97C5-36DFBFD07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Bipartite Matching with One Sided Preferences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BCF0F-758B-F5D9-9CCB-49BBF9C518F5}"/>
              </a:ext>
            </a:extLst>
          </p:cNvPr>
          <p:cNvSpPr txBox="1"/>
          <p:nvPr/>
        </p:nvSpPr>
        <p:spPr>
          <a:xfrm>
            <a:off x="9432918" y="6154994"/>
            <a:ext cx="2470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by: Darryl Teo</a:t>
            </a:r>
          </a:p>
        </p:txBody>
      </p:sp>
    </p:spTree>
    <p:extLst>
      <p:ext uri="{BB962C8B-B14F-4D97-AF65-F5344CB8AC3E}">
        <p14:creationId xmlns:p14="http://schemas.microsoft.com/office/powerpoint/2010/main" val="35615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2DC75-129B-5340-F008-D126168C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3612-1EBE-4CE1-F97F-5B3DF68F7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Parents across many Asian countries including Singapore, Hong Kong, and Macao seek to give their children a competitive edge via tutoring services</a:t>
            </a:r>
            <a:r>
              <a:rPr lang="en-US" sz="2400" baseline="30000" dirty="0"/>
              <a:t>1,2,4</a:t>
            </a:r>
          </a:p>
          <a:p>
            <a:r>
              <a:rPr lang="en-US" sz="2400" dirty="0"/>
              <a:t>Extremely robust demand for tutoring services in Singapore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AF787F-8266-BC3C-CF1F-74C934312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627" y="2681652"/>
            <a:ext cx="6844927" cy="30994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90ED85-A0BA-9101-F156-AF38383AB67B}"/>
              </a:ext>
            </a:extLst>
          </p:cNvPr>
          <p:cNvSpPr txBox="1"/>
          <p:nvPr/>
        </p:nvSpPr>
        <p:spPr>
          <a:xfrm>
            <a:off x="3659373" y="578111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Total Annual Spending on Tuition in Singapore</a:t>
            </a:r>
            <a:r>
              <a:rPr lang="en-US" sz="1600" baseline="30000" dirty="0"/>
              <a:t>5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3942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FC72-B662-11DF-EB08-947BFFE0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E789F-0F7A-7210-A118-A7CC38DA2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5A48E-A8AE-0FA3-8F41-5B8359179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222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To generate an optimal assignment for tutors and students under capacity constraints and one-sided tutor preferences.</a:t>
            </a:r>
          </a:p>
          <a:p>
            <a:r>
              <a:rPr lang="en-US" sz="3200" dirty="0"/>
              <a:t>Satisfy constraints + maximize tutor preferences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800" dirty="0">
                <a:sym typeface="Wingdings" panose="05000000000000000000" pitchFamily="2" charset="2"/>
              </a:rPr>
              <a:t>smooth operations + </a:t>
            </a:r>
            <a:r>
              <a:rPr lang="en-US" sz="2800" dirty="0"/>
              <a:t>tutors happy 😀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800" dirty="0"/>
              <a:t>better quality teaching </a:t>
            </a:r>
            <a:endParaRPr lang="en-US" sz="2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800" dirty="0">
                <a:sym typeface="Wingdings" panose="05000000000000000000" pitchFamily="2" charset="2"/>
              </a:rPr>
              <a:t>satisfied students + better results 💯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800" dirty="0">
                <a:sym typeface="Wingdings" panose="05000000000000000000" pitchFamily="2" charset="2"/>
              </a:rPr>
              <a:t>parents continue with the tuition </a:t>
            </a:r>
            <a:r>
              <a:rPr lang="en-US" sz="2800" dirty="0" err="1">
                <a:sym typeface="Wingdings" panose="05000000000000000000" pitchFamily="2" charset="2"/>
              </a:rPr>
              <a:t>centre</a:t>
            </a:r>
            <a:r>
              <a:rPr lang="en-US" sz="2800" dirty="0">
                <a:sym typeface="Wingdings" panose="05000000000000000000" pitchFamily="2" charset="2"/>
              </a:rPr>
              <a:t> + recommend it to their friends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800" dirty="0">
                <a:sym typeface="Wingdings" panose="05000000000000000000" pitchFamily="2" charset="2"/>
              </a:rPr>
              <a:t>profit 💵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9741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439E-71FA-276D-554D-42472CE5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8503-AA98-D471-AF2A-0095BC9F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89B6A-9AEE-33BC-0C25-FCFBA743A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Magnanti and Natarajan</a:t>
            </a:r>
            <a:r>
              <a:rPr lang="en-US" sz="2400" baseline="30000" dirty="0"/>
              <a:t>3 </a:t>
            </a:r>
            <a:r>
              <a:rPr lang="en-US" sz="2400" dirty="0"/>
              <a:t>discusses methods to efficiently and fairly match students to projects, with one sided preferences from the students.</a:t>
            </a:r>
          </a:p>
          <a:p>
            <a:r>
              <a:rPr lang="en-US" sz="2400" dirty="0"/>
              <a:t>Efficient – preferences are comprehensively elicited and utilized.</a:t>
            </a:r>
          </a:p>
          <a:p>
            <a:r>
              <a:rPr lang="en-US" sz="2400" dirty="0"/>
              <a:t>Fair – no discrimination on factors including gender or nationality.</a:t>
            </a:r>
          </a:p>
          <a:p>
            <a:r>
              <a:rPr lang="en-US" sz="2400" dirty="0"/>
              <a:t>Evaluation metric – % of students assigned to top 3 choices</a:t>
            </a:r>
          </a:p>
          <a:p>
            <a:endParaRPr lang="en-US" sz="2400" dirty="0"/>
          </a:p>
          <a:p>
            <a:r>
              <a:rPr lang="en-US" sz="2400" dirty="0"/>
              <a:t>Urbina et al.</a:t>
            </a:r>
            <a:r>
              <a:rPr lang="en-US" sz="2400" baseline="30000" dirty="0"/>
              <a:t>6 </a:t>
            </a:r>
            <a:r>
              <a:rPr lang="en-US" sz="2400" dirty="0"/>
              <a:t>discusses methods to associate students and teachers for tutoring according to their skills and affinities.</a:t>
            </a:r>
          </a:p>
          <a:p>
            <a:r>
              <a:rPr lang="en-US" sz="2400" dirty="0"/>
              <a:t>Cluster students and teachers based on skills including Communication, Digital, Autonomy, and Interpersonal.</a:t>
            </a:r>
          </a:p>
        </p:txBody>
      </p:sp>
    </p:spTree>
    <p:extLst>
      <p:ext uri="{BB962C8B-B14F-4D97-AF65-F5344CB8AC3E}">
        <p14:creationId xmlns:p14="http://schemas.microsoft.com/office/powerpoint/2010/main" val="98327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C417-3024-9048-AF02-E3F301402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04B7-59D2-D757-7EC3-2F252A98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59D9-40B3-910C-363D-B27EDB238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2856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For all students, changing of </a:t>
            </a:r>
            <a:r>
              <a:rPr lang="en-US" sz="3200" dirty="0" err="1"/>
              <a:t>centres</a:t>
            </a:r>
            <a:r>
              <a:rPr lang="en-US" sz="3200" dirty="0"/>
              <a:t> is not allowed.</a:t>
            </a:r>
          </a:p>
          <a:p>
            <a:r>
              <a:rPr lang="en-US" sz="3200" dirty="0"/>
              <a:t>For existing students, changing of tutors is not allowed. Exceptions are granted for students that are matched wrongly based on tutoring needs.</a:t>
            </a:r>
          </a:p>
          <a:p>
            <a:r>
              <a:rPr lang="en-US" sz="3200" dirty="0"/>
              <a:t>A feasible assignment exists, that is, the number of students does not exceed the total capacity of tutors, for both normal and extensive teaching needs.</a:t>
            </a:r>
          </a:p>
          <a:p>
            <a:r>
              <a:rPr lang="en-US" sz="3200" dirty="0"/>
              <a:t>Tutors can teach at multiple </a:t>
            </a:r>
            <a:r>
              <a:rPr lang="en-US" sz="3200" dirty="0" err="1"/>
              <a:t>centres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129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960A-C4AD-AA80-1D64-27743C64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Available (Rows Truncated)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68573-EA9E-B94C-46C3-27F546F0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96" y="3003285"/>
            <a:ext cx="10920504" cy="178244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54EBA5-6C1D-5E90-884A-9B45EFC3B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33689" y="1382079"/>
            <a:ext cx="7283551" cy="18985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343A18-0E24-C06F-9BF7-AD03A9A5D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85731"/>
            <a:ext cx="12192000" cy="191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53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7F4DC-FBB4-5DAE-2758-8EAEAEBF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E650-B841-F059-A0EE-5C55EE2F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452F6-3D9D-C5CA-F1B2-85CC003BA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✅ 0 duplicates/missing data</a:t>
            </a:r>
          </a:p>
          <a:p>
            <a:pPr marL="0" indent="0">
              <a:buNone/>
            </a:pPr>
            <a:r>
              <a:rPr lang="en-US" dirty="0"/>
              <a:t>✅ Sufficient capacity – normal and extensive needs both satisfied</a:t>
            </a:r>
          </a:p>
          <a:p>
            <a:pPr marL="0" indent="0">
              <a:buNone/>
            </a:pPr>
            <a:r>
              <a:rPr lang="en-US" dirty="0"/>
              <a:t>❌ New students are assigned smaller IDs than existing students.</a:t>
            </a:r>
          </a:p>
          <a:p>
            <a:pPr marL="0" indent="0">
              <a:buNone/>
            </a:pPr>
            <a:r>
              <a:rPr lang="en-US" dirty="0"/>
              <a:t>❌2 existing extensive needs students assigned to normal skills tutor (we will reassign them)</a:t>
            </a:r>
          </a:p>
        </p:txBody>
      </p:sp>
    </p:spTree>
    <p:extLst>
      <p:ext uri="{BB962C8B-B14F-4D97-AF65-F5344CB8AC3E}">
        <p14:creationId xmlns:p14="http://schemas.microsoft.com/office/powerpoint/2010/main" val="1870322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5D23-09D1-B31C-30D7-33E61709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0AD6-C0AF-6276-6E9B-C5A403AAC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Model (General)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692743-3EAD-7B33-C42A-90D51793D2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0825"/>
                <a:ext cx="10515600" cy="4732491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400" dirty="0"/>
                  <a:t>Parameters: </a:t>
                </a:r>
              </a:p>
              <a:p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 set of existing students</a:t>
                </a:r>
              </a:p>
              <a:p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: set of new students</a:t>
                </a:r>
              </a:p>
              <a:p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800" dirty="0"/>
                  <a:t>: set of tutors</a:t>
                </a:r>
                <a:endParaRPr lang="en-US" sz="1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  <a:r>
                  <a:rPr lang="ar-AE" sz="1800" dirty="0"/>
                  <a:t> </a:t>
                </a:r>
                <a:r>
                  <a:rPr lang="en-US" sz="1800" dirty="0"/>
                  <a:t>set of tutors that can handle extensive tutoring needs</a:t>
                </a:r>
                <a:endParaRPr lang="en-US" sz="1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ar-AE" sz="1800" dirty="0"/>
                  <a:t> </a:t>
                </a:r>
                <a:r>
                  <a:rPr lang="en-US" sz="1800" dirty="0"/>
                  <a:t>set of new students that require extensive tutoring needs</a:t>
                </a:r>
              </a:p>
              <a:p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𝑐𝑎</m:t>
                    </m:r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  <a:r>
                  <a:rPr lang="ar-AE" sz="1800" dirty="0"/>
                  <a:t> </a:t>
                </a:r>
                <a:r>
                  <a:rPr lang="en-US" sz="1800" dirty="0"/>
                  <a:t>be the capacity of tutor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𝑡𝑒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 constant that is 1 if tutor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was assigned to existing student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1800" dirty="0"/>
                  <a:t>, and 0 otherwise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</m:oMath>
                </a14:m>
                <a:r>
                  <a:rPr lang="en-US" sz="1800" dirty="0"/>
                  <a:t>: cost coefficient for tutor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assigned to new student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ar-AE" sz="1800" dirty="0"/>
                  <a:t> </a:t>
                </a:r>
                <a:r>
                  <a:rPr lang="en-US" sz="1800" dirty="0"/>
                  <a:t>if student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’s </a:t>
                </a:r>
                <a:r>
                  <a:rPr lang="en-US" sz="1800" dirty="0" err="1"/>
                  <a:t>centre</a:t>
                </a:r>
                <a:r>
                  <a:rPr lang="en-US" sz="1800" dirty="0"/>
                  <a:t> is the tutor’s first choice,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1800" dirty="0"/>
                  <a:t> </a:t>
                </a:r>
                <a:r>
                  <a:rPr lang="en-US" sz="1800" dirty="0"/>
                  <a:t>if it is the tutor’s second choice,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1800" dirty="0"/>
                  <a:t> </a:t>
                </a:r>
                <a:r>
                  <a:rPr lang="en-US" sz="1800" dirty="0"/>
                  <a:t>otherwise.</a:t>
                </a:r>
              </a:p>
              <a:p>
                <a:pPr marL="0" lvl="0" indent="0">
                  <a:buNone/>
                </a:pPr>
                <a:r>
                  <a:rPr lang="en-US" sz="2400" dirty="0"/>
                  <a:t>Variables: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/>
                  <a:t> binary variable that is 1 if tutor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 is assigned to new student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, and 0 otherwise.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692743-3EAD-7B33-C42A-90D51793D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0825"/>
                <a:ext cx="10515600" cy="4732491"/>
              </a:xfrm>
              <a:blipFill>
                <a:blip r:embed="rId2"/>
                <a:stretch>
                  <a:fillRect l="-928" t="-1673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750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5D338-1B29-7EED-86EE-D8041E5F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6320-0DE8-4146-3E9E-1061E726A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Model (General)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821E9-466B-7834-1E8D-0C89DBC561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0825"/>
                <a:ext cx="10515600" cy="4732491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3200" dirty="0"/>
                  <a:t>Constraints</a:t>
                </a:r>
                <a:r>
                  <a:rPr lang="en-US" sz="2400" dirty="0"/>
                  <a:t>: </a:t>
                </a:r>
              </a:p>
              <a:p>
                <a:r>
                  <a:rPr lang="en-US" dirty="0"/>
                  <a:t>Each new student is assigned to exactly one tutor: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𝑡𝑛</m:t>
                              </m:r>
                            </m:sub>
                          </m:sSub>
                        </m:e>
                      </m:nary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 ∀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ar-AE" sz="2400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ar-AE" sz="2400" dirty="0"/>
              </a:p>
              <a:p>
                <a:r>
                  <a:rPr lang="en-US" sz="2400" dirty="0"/>
                  <a:t>Each new student with extensive tutoring needs is assigned to a tutor that can handle extensive tutoring needs: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𝑡𝑛</m:t>
                              </m:r>
                            </m:sub>
                          </m:sSub>
                        </m:e>
                      </m:nary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 ∀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</m:oMath>
                  </m:oMathPara>
                </a14:m>
                <a:endParaRPr lang="ar-AE" sz="2400" dirty="0"/>
              </a:p>
              <a:p>
                <a:r>
                  <a:rPr lang="en-US" sz="2400" dirty="0"/>
                  <a:t>A tutor cannot exceed their maximum overall capacity: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𝑡𝑛</m:t>
                              </m:r>
                            </m:sub>
                          </m:sSub>
                        </m:e>
                      </m:nary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𝑡𝑒</m:t>
                              </m:r>
                            </m:sub>
                          </m:sSub>
                        </m:e>
                      </m:nary>
                      <m:r>
                        <a:rPr lang="ar-AE" sz="24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𝑐𝑎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 ∀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821E9-466B-7834-1E8D-0C89DBC561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0825"/>
                <a:ext cx="10515600" cy="4732491"/>
              </a:xfrm>
              <a:blipFill>
                <a:blip r:embed="rId2"/>
                <a:stretch>
                  <a:fillRect l="-1507" t="-2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19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B498-E029-449F-70AF-9F260131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1C68-EAA4-5F9C-45DD-6B86C849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Model 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31ADD-60E8-2E88-05D4-785FFD7696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332" y="1690688"/>
                <a:ext cx="11029335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3000" dirty="0"/>
                  <a:t>Problem statement: </a:t>
                </a:r>
              </a:p>
              <a:p>
                <a:r>
                  <a:rPr lang="en-US" sz="2400" dirty="0"/>
                  <a:t>Minimize total number of tutors assigned while maximizing tutor’s preference on tuition </a:t>
                </a:r>
                <a:r>
                  <a:rPr lang="en-US" sz="2400" dirty="0" err="1"/>
                  <a:t>centre</a:t>
                </a:r>
                <a:r>
                  <a:rPr lang="en-US" sz="2400" dirty="0"/>
                  <a:t>.</a:t>
                </a:r>
              </a:p>
              <a:p>
                <a:pPr marL="0" lvl="0" indent="0">
                  <a:buNone/>
                </a:pPr>
                <a:r>
                  <a:rPr lang="en-US" sz="3000" dirty="0"/>
                  <a:t>Objectives</a:t>
                </a:r>
                <a:r>
                  <a:rPr lang="en-US" sz="2400" dirty="0"/>
                  <a:t>: </a:t>
                </a:r>
              </a:p>
              <a:p>
                <a:r>
                  <a:rPr lang="en-US" sz="2400" dirty="0"/>
                  <a:t>Minimize total number of tutors assigned to at least one new student or existing student: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ar-AE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sz="2400" dirty="0"/>
              </a:p>
              <a:p>
                <a:pPr marL="0" lvl="0" indent="0">
                  <a:buNone/>
                </a:pPr>
                <a:r>
                  <a:rPr lang="en-US" sz="2400" dirty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sz="24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2400" dirty="0"/>
                  <a:t> </a:t>
                </a:r>
                <a:r>
                  <a:rPr lang="en-US" sz="2400" dirty="0"/>
                  <a:t>is a binary variable that is 1 if tutor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is assigned to at least one new student or</a:t>
                </a:r>
                <a:br>
                  <a:rPr lang="en-US" sz="2400" dirty="0"/>
                </a:br>
                <a:r>
                  <a:rPr lang="en-US" sz="2400" dirty="0"/>
                  <a:t>   existing student, and 0 otherwise.</a:t>
                </a:r>
              </a:p>
              <a:p>
                <a:r>
                  <a:rPr lang="en-US" sz="2400" dirty="0"/>
                  <a:t>Maximize tutor’s preference on tuition </a:t>
                </a:r>
                <a:r>
                  <a:rPr lang="en-US" sz="2400" dirty="0" err="1"/>
                  <a:t>centre</a:t>
                </a:r>
                <a:r>
                  <a:rPr lang="en-US" sz="2400" dirty="0"/>
                  <a:t> (for new students):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max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𝑡𝑛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31ADD-60E8-2E88-05D4-785FFD769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332" y="1690688"/>
                <a:ext cx="11029335" cy="4351338"/>
              </a:xfrm>
              <a:blipFill>
                <a:blip r:embed="rId2"/>
                <a:stretch>
                  <a:fillRect l="-1105" t="-3782" r="-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1870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99496-04C6-64E7-2AB8-D9118C32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1204-9F6C-037B-FB18-2E4EA549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Model 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133C0B-CA46-AC42-A2FE-17BB7478DF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332" y="1857837"/>
                <a:ext cx="11029335" cy="4351338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Objective function (combined):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𝑡𝑛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sz="2000" dirty="0"/>
              </a:p>
              <a:p>
                <a:pPr marL="0" lvl="0" indent="0">
                  <a:buNone/>
                </a:pPr>
                <a:r>
                  <a:rPr lang="en-US" sz="2000" dirty="0"/>
                  <a:t>   where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a weighting factor to balance the two objectives, as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Additional constraints: </a:t>
                </a:r>
              </a:p>
              <a:p>
                <a:r>
                  <a:rPr lang="en-US" sz="2000" dirty="0"/>
                  <a:t>Link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2000" dirty="0"/>
                  <a:t> </a:t>
                </a:r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</m:oMath>
                </a14:m>
                <a:r>
                  <a:rPr lang="ar-AE" sz="2000" dirty="0"/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𝑡𝑒</m:t>
                        </m:r>
                      </m:sub>
                    </m:sSub>
                  </m:oMath>
                </a14:m>
                <a:r>
                  <a:rPr lang="ar-AE" sz="2000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sz="200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𝑡𝑛</m:t>
                              </m:r>
                            </m:sub>
                          </m:sSub>
                        </m:e>
                      </m:nary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𝑡𝑒</m:t>
                              </m:r>
                            </m:sub>
                          </m:sSub>
                        </m:e>
                      </m:nary>
                      <m:r>
                        <a:rPr lang="ar-AE" sz="2000">
                          <a:latin typeface="Cambria Math" panose="02040503050406030204" pitchFamily="18" charset="0"/>
                        </a:rPr>
                        <m:t> ∀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sz="2000" dirty="0"/>
              </a:p>
              <a:p>
                <a:pPr marL="0" lvl="0" indent="0">
                  <a:buNone/>
                </a:pPr>
                <a:r>
                  <a:rPr lang="en-US" sz="2000" dirty="0"/>
                  <a:t>   where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is a sufficiently large constant,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sum of tutor capacities)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133C0B-CA46-AC42-A2FE-17BB7478DF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332" y="1857837"/>
                <a:ext cx="11029335" cy="4351338"/>
              </a:xfrm>
              <a:blipFill>
                <a:blip r:embed="rId2"/>
                <a:stretch>
                  <a:fillRect l="-1105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569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8EC4A-FD22-F496-6F9D-49B3C2A9D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92B4-31B4-15E0-0143-8AF51B35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Model (b)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08170-7F9D-8E42-368F-78418917A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0824"/>
                <a:ext cx="10515600" cy="5184775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400" dirty="0"/>
                  <a:t>Problem statement: </a:t>
                </a:r>
              </a:p>
              <a:p>
                <a:r>
                  <a:rPr lang="en-US" sz="2000" dirty="0"/>
                  <a:t>Balance tutor’s workload while maximizing tutor’s preference on the tuition </a:t>
                </a:r>
                <a:r>
                  <a:rPr lang="en-US" sz="2000" dirty="0" err="1"/>
                  <a:t>centre</a:t>
                </a:r>
                <a:r>
                  <a:rPr lang="en-US" sz="2000" dirty="0"/>
                  <a:t>.</a:t>
                </a:r>
              </a:p>
              <a:p>
                <a:pPr marL="0" lvl="0" indent="0">
                  <a:buNone/>
                </a:pPr>
                <a:r>
                  <a:rPr lang="en-US" sz="2400" dirty="0"/>
                  <a:t>Objectives: </a:t>
                </a:r>
              </a:p>
              <a:p>
                <a:r>
                  <a:rPr lang="en-US" sz="2000" dirty="0"/>
                  <a:t>Minimize the maximum number of students assigned to any tutor: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min</m:t>
                      </m:r>
                      <m:limLow>
                        <m:limLow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𝑇</m:t>
                          </m:r>
                        </m:lim>
                      </m:limLow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nary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𝑡𝑒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ar-AE" sz="2000" dirty="0"/>
              </a:p>
              <a:p>
                <a:r>
                  <a:rPr lang="en-US" sz="2000" dirty="0"/>
                  <a:t>Maximize tutor’s preference on tuition </a:t>
                </a:r>
                <a:r>
                  <a:rPr lang="en-US" sz="2000" dirty="0" err="1"/>
                  <a:t>centre</a:t>
                </a:r>
                <a:r>
                  <a:rPr lang="en-US" sz="2000" dirty="0"/>
                  <a:t> (for new students). Same as in (a).</a:t>
                </a:r>
                <a:endParaRPr lang="ar-AE" sz="2000" dirty="0"/>
              </a:p>
              <a:p>
                <a:pPr marL="0" lvl="0" indent="0">
                  <a:buNone/>
                </a:pPr>
                <a:r>
                  <a:rPr lang="en-US" sz="2400" dirty="0"/>
                  <a:t>Objective function (combined): </a:t>
                </a:r>
              </a:p>
              <a:p>
                <a:r>
                  <a:rPr lang="en-US" sz="2000" dirty="0"/>
                  <a:t>Combine the two objectives into a single objective function: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min</m:t>
                      </m:r>
                      <m:limLow>
                        <m:limLow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𝑇</m:t>
                          </m:r>
                        </m:lim>
                      </m:limLow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nary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𝑒𝑖𝑛𝐸</m:t>
                              </m:r>
                            </m:sub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𝑡𝑒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𝑡𝑛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𝑡𝑛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sz="2000" dirty="0"/>
              </a:p>
              <a:p>
                <a:pPr marL="0" lvl="0" indent="0">
                  <a:buNone/>
                </a:pP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is a weighting factor to balance the two objectives, as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𝑐𝑎</m:t>
                        </m:r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08170-7F9D-8E42-368F-78418917A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0824"/>
                <a:ext cx="10515600" cy="5184775"/>
              </a:xfrm>
              <a:blipFill>
                <a:blip r:embed="rId2"/>
                <a:stretch>
                  <a:fillRect l="-928" t="-1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875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7F8E-DCE3-C427-C1FB-F2C6C9DB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4F31-5345-707C-A13F-9B12AC4E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53767-2BA1-C734-18DB-198F37707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75" y="2310093"/>
            <a:ext cx="3591426" cy="25721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3E4ACE-5D0C-C128-B842-D992AABDF24B}"/>
              </a:ext>
            </a:extLst>
          </p:cNvPr>
          <p:cNvSpPr txBox="1"/>
          <p:nvPr/>
        </p:nvSpPr>
        <p:spPr>
          <a:xfrm>
            <a:off x="357552" y="4975123"/>
            <a:ext cx="47620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Minimize tutors assigned</a:t>
            </a:r>
          </a:p>
          <a:p>
            <a:pPr algn="ctr"/>
            <a:r>
              <a:rPr lang="en-US" dirty="0"/>
              <a:t>Only 6 out of 10 tutors received an assignment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149EC3-7237-F093-0B06-400006718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631" y="2305329"/>
            <a:ext cx="4791744" cy="25816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5E424D-F743-FF25-BD9B-F963272EF39A}"/>
              </a:ext>
            </a:extLst>
          </p:cNvPr>
          <p:cNvSpPr txBox="1"/>
          <p:nvPr/>
        </p:nvSpPr>
        <p:spPr>
          <a:xfrm>
            <a:off x="6819515" y="4975122"/>
            <a:ext cx="46196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Maximize tutor preferences</a:t>
            </a:r>
          </a:p>
          <a:p>
            <a:pPr algn="ctr"/>
            <a:r>
              <a:rPr lang="en-US" dirty="0"/>
              <a:t>Most tutor assignments are at their #1 </a:t>
            </a:r>
            <a:r>
              <a:rPr lang="en-US" dirty="0" err="1"/>
              <a:t>centre</a:t>
            </a:r>
            <a:endParaRPr lang="en-US" dirty="0"/>
          </a:p>
          <a:p>
            <a:pPr algn="ctr"/>
            <a:r>
              <a:rPr lang="en-US" dirty="0"/>
              <a:t>No tutor assigned to a non-preferred </a:t>
            </a:r>
            <a:r>
              <a:rPr lang="en-US" dirty="0" err="1"/>
              <a:t>centre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00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78B0A-953B-6726-10A2-B2F18363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E6AA-5ED9-184F-8125-1DCCA67C4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(b)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80702-D211-5A72-A20F-9F0B573A49CE}"/>
              </a:ext>
            </a:extLst>
          </p:cNvPr>
          <p:cNvSpPr txBox="1"/>
          <p:nvPr/>
        </p:nvSpPr>
        <p:spPr>
          <a:xfrm>
            <a:off x="-18868" y="5497637"/>
            <a:ext cx="55953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Balance tutor workload</a:t>
            </a:r>
          </a:p>
          <a:p>
            <a:pPr algn="ctr"/>
            <a:r>
              <a:rPr lang="en-US" dirty="0"/>
              <a:t>The worst-off tutor (workload) was assigned 4 students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BA8BB5-1D63-A589-9371-71EB2A750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793" y="1436947"/>
            <a:ext cx="4706007" cy="3896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A7F0BB-B5D8-D625-6FCC-23967D26F5C1}"/>
              </a:ext>
            </a:extLst>
          </p:cNvPr>
          <p:cNvSpPr txBox="1"/>
          <p:nvPr/>
        </p:nvSpPr>
        <p:spPr>
          <a:xfrm>
            <a:off x="6570248" y="5472120"/>
            <a:ext cx="511819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Maximize tutor preferences</a:t>
            </a:r>
          </a:p>
          <a:p>
            <a:pPr algn="ctr"/>
            <a:r>
              <a:rPr lang="en-US" dirty="0"/>
              <a:t>Almost all tutor assignments are at their #1 </a:t>
            </a:r>
            <a:r>
              <a:rPr lang="en-US" dirty="0" err="1"/>
              <a:t>centre</a:t>
            </a:r>
            <a:endParaRPr lang="en-US" dirty="0"/>
          </a:p>
          <a:p>
            <a:pPr algn="ctr"/>
            <a:r>
              <a:rPr lang="en-US" dirty="0"/>
              <a:t>Two tutors had 1 assignment at #2 </a:t>
            </a:r>
            <a:r>
              <a:rPr lang="en-US" dirty="0" err="1"/>
              <a:t>centre</a:t>
            </a:r>
            <a:endParaRPr lang="en-US" dirty="0"/>
          </a:p>
          <a:p>
            <a:pPr algn="ctr"/>
            <a:r>
              <a:rPr lang="en-US" dirty="0"/>
              <a:t>No tutor assigned to a non-preferred </a:t>
            </a:r>
            <a:r>
              <a:rPr lang="en-US" dirty="0" err="1"/>
              <a:t>centre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66AA2C-7428-3E00-6464-66AAEA090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59" y="1614234"/>
            <a:ext cx="4182059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87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4CF96-93EE-B071-D16E-06980B679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515D-9F76-7E8D-3D3A-261F3E98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6CDED-AF10-F4DE-B621-F841531B5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Modeled the Tutor-Student Assignment Problem --- Bipartite Matching with One Sided Preferences as an integer programming problem.</a:t>
            </a:r>
          </a:p>
          <a:p>
            <a:r>
              <a:rPr lang="en-US" sz="2400" dirty="0"/>
              <a:t>The problem was solved to optimality, satisfied all constraints and generated optimal assignments for both task (a) and (b)</a:t>
            </a:r>
          </a:p>
          <a:p>
            <a:endParaRPr lang="en-US" sz="2400" dirty="0"/>
          </a:p>
          <a:p>
            <a:r>
              <a:rPr lang="en-US" sz="2400" dirty="0"/>
              <a:t>Studies done by Magnanti and Natarajan</a:t>
            </a:r>
            <a:r>
              <a:rPr lang="en-US" sz="2400" baseline="30000" dirty="0"/>
              <a:t>3 </a:t>
            </a:r>
            <a:r>
              <a:rPr lang="en-US" sz="2400" dirty="0"/>
              <a:t>and Urbina et al.</a:t>
            </a:r>
            <a:r>
              <a:rPr lang="en-US" sz="2400" baseline="30000" dirty="0"/>
              <a:t>6 </a:t>
            </a:r>
            <a:r>
              <a:rPr lang="en-US" sz="2400" dirty="0"/>
              <a:t> suggest that with more data, we can more efficiently assign tutors to students.</a:t>
            </a:r>
          </a:p>
          <a:p>
            <a:r>
              <a:rPr lang="en-US" sz="2400" dirty="0"/>
              <a:t>Further work can be done to identify student characteristics that allow for synergistic grouping of students, expanding the tutoring service to group tuition.</a:t>
            </a:r>
          </a:p>
        </p:txBody>
      </p:sp>
    </p:spTree>
    <p:extLst>
      <p:ext uri="{BB962C8B-B14F-4D97-AF65-F5344CB8AC3E}">
        <p14:creationId xmlns:p14="http://schemas.microsoft.com/office/powerpoint/2010/main" val="2289692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0F4D7-A3B1-2B5E-5E99-77DA5FE6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09F76-9520-C724-C638-47829F008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Thank you </a:t>
            </a:r>
            <a:r>
              <a:rPr lang="en-US" sz="4800" dirty="0">
                <a:sym typeface="Wingdings" panose="05000000000000000000" pitchFamily="2" charset="2"/>
              </a:rPr>
              <a:t>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736221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3595-B0E9-C20E-D94F-93851A28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53850-E5F2-9DFF-C7DF-ACE09A4B2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[1] Claudia Chan and Mark Bray. Marketized private tutoring as a supplement to regular schooling: Liberal studies and the shadow sector in </a:t>
            </a:r>
            <a:r>
              <a:rPr lang="en-US" dirty="0" err="1"/>
              <a:t>hong</a:t>
            </a:r>
            <a:r>
              <a:rPr lang="en-US" dirty="0"/>
              <a:t> </a:t>
            </a:r>
            <a:r>
              <a:rPr lang="en-US" dirty="0" err="1"/>
              <a:t>kong</a:t>
            </a:r>
            <a:r>
              <a:rPr lang="en-US" dirty="0"/>
              <a:t> secondary education. Journal of Curriculum Studies, 46(3):361–388, February 2014.</a:t>
            </a:r>
          </a:p>
          <a:p>
            <a:pPr marL="0" indent="0">
              <a:buNone/>
            </a:pPr>
            <a:r>
              <a:rPr lang="en-US" dirty="0"/>
              <a:t>[2] Titus Siu Pang Li and Ben Cheong Choi. Private supplementary tutoring in </a:t>
            </a:r>
            <a:r>
              <a:rPr lang="en-US" dirty="0" err="1"/>
              <a:t>macao</a:t>
            </a:r>
            <a:r>
              <a:rPr lang="en-US" dirty="0"/>
              <a:t>: past, present and the future. Asia Pacific Journal of Education, 34(4):505–517, October 2014.</a:t>
            </a:r>
          </a:p>
          <a:p>
            <a:pPr marL="0" indent="0">
              <a:buNone/>
            </a:pPr>
            <a:r>
              <a:rPr lang="en-US" dirty="0"/>
              <a:t>[3] Thomas L. Magnanti and Karthik Natarajan. Allocating students to multidisciplinary capstone projects using discrete optimization. Interfaces, 48(3):204–216, June 2018.</a:t>
            </a:r>
          </a:p>
          <a:p>
            <a:pPr marL="0" indent="0">
              <a:buNone/>
            </a:pPr>
            <a:r>
              <a:rPr lang="en-US" dirty="0"/>
              <a:t>[4] Charlene Tan. Private supplementary tutoring and </a:t>
            </a:r>
            <a:r>
              <a:rPr lang="en-US" dirty="0" err="1"/>
              <a:t>parentocracy</a:t>
            </a:r>
            <a:r>
              <a:rPr lang="en-US" dirty="0"/>
              <a:t> in </a:t>
            </a:r>
            <a:r>
              <a:rPr lang="en-US" dirty="0" err="1"/>
              <a:t>singapore</a:t>
            </a:r>
            <a:r>
              <a:rPr lang="en-US" dirty="0"/>
              <a:t>. Interchange, 48(4):315–329, February 2017.</a:t>
            </a:r>
          </a:p>
          <a:p>
            <a:pPr marL="0" indent="0">
              <a:buNone/>
            </a:pPr>
            <a:r>
              <a:rPr lang="en-US" dirty="0"/>
              <a:t>[5] Elisha Tushara. Spending by </a:t>
            </a:r>
            <a:r>
              <a:rPr lang="en-US" dirty="0" err="1"/>
              <a:t>s’pore</a:t>
            </a:r>
            <a:r>
              <a:rPr lang="en-US" dirty="0"/>
              <a:t> families on private tuition rises to 1.8 billion in 2023, 2025.</a:t>
            </a:r>
          </a:p>
          <a:p>
            <a:pPr marL="0" indent="0">
              <a:buNone/>
            </a:pPr>
            <a:r>
              <a:rPr lang="en-US" dirty="0"/>
              <a:t>[6] Argelia B. Urbina Najera, Jorge de la Calleja, and Ma. </a:t>
            </a:r>
            <a:r>
              <a:rPr lang="en-US" dirty="0" err="1"/>
              <a:t>Auxilio</a:t>
            </a:r>
            <a:r>
              <a:rPr lang="en-US" dirty="0"/>
              <a:t> Medina. Associating students and teachers for tutoring in higher education </a:t>
            </a:r>
            <a:r>
              <a:rPr lang="en-US" dirty="0" err="1"/>
              <a:t>usin</a:t>
            </a:r>
            <a:r>
              <a:rPr lang="en-US" dirty="0"/>
              <a:t> clustering and data mining. Computer Applications in Engineering Education, 25(5):823–832, June 2017</a:t>
            </a:r>
          </a:p>
        </p:txBody>
      </p:sp>
    </p:spTree>
    <p:extLst>
      <p:ext uri="{BB962C8B-B14F-4D97-AF65-F5344CB8AC3E}">
        <p14:creationId xmlns:p14="http://schemas.microsoft.com/office/powerpoint/2010/main" val="306162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1183</Words>
  <Application>Microsoft Office PowerPoint</Application>
  <PresentationFormat>Widescreen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Wingdings</vt:lpstr>
      <vt:lpstr>Office Theme</vt:lpstr>
      <vt:lpstr>Tutor-Student Assignment Problem</vt:lpstr>
      <vt:lpstr>Introduction</vt:lpstr>
      <vt:lpstr>Objective</vt:lpstr>
      <vt:lpstr>Literature Review</vt:lpstr>
      <vt:lpstr>Modeling Assumptions</vt:lpstr>
      <vt:lpstr>Data Available (Rows Truncated)</vt:lpstr>
      <vt:lpstr>Data Validation</vt:lpstr>
      <vt:lpstr>Mathematical Model (General)</vt:lpstr>
      <vt:lpstr>Mathematical Model (General)</vt:lpstr>
      <vt:lpstr>Mathematical Model (a)</vt:lpstr>
      <vt:lpstr>Mathematical Model (a)</vt:lpstr>
      <vt:lpstr>Mathematical Model (b)</vt:lpstr>
      <vt:lpstr>Results (a)</vt:lpstr>
      <vt:lpstr>Results (b)</vt:lpstr>
      <vt:lpstr>Conclusion and Future Work</vt:lpstr>
      <vt:lpstr>Thank you 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PhD - Teo Hong Jie Darryl</dc:creator>
  <cp:lastModifiedBy>Darryl Hong Jie Teo</cp:lastModifiedBy>
  <cp:revision>1</cp:revision>
  <dcterms:created xsi:type="dcterms:W3CDTF">2025-10-07T08:53:24Z</dcterms:created>
  <dcterms:modified xsi:type="dcterms:W3CDTF">2025-11-30T04:20:59Z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2025-11-19T12:21:27Z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b3ef291e-49c1-42a8-90c7-8787cf233d21</vt:lpwstr>
  </property>
  <property fmtid="{D5CDD505-2E9C-101B-9397-08002B2CF9AE}" pid="8" name="MSIP_Label_be298231-ee28-4c9e-9ffa-238d0040efda_ContentBits">
    <vt:lpwstr>0</vt:lpwstr>
  </property>
  <property fmtid="{D5CDD505-2E9C-101B-9397-08002B2CF9AE}" pid="9" name="MSIP_Label_be298231-ee28-4c9e-9ffa-238d0040efda_Tag">
    <vt:lpwstr>10, 0, 1, 1</vt:lpwstr>
  </property>
</Properties>
</file>